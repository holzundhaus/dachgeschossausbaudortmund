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geschossausbaudortmund.tumblr.com" TargetMode="External"/><Relationship Id="rId3" Type="http://schemas.openxmlformats.org/officeDocument/2006/relationships/hyperlink" Target="https://holzundhaus.github.io/dachgeschossausbaudortmund/dateien/minimax-d50797aa874a3aa427547ed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dachgeschossausbaudortmund.de · Erklärende Präsentation</a:t>
            </a:r>
          </a:p>
        </p:txBody>
      </p:sp>
      <p:sp>
        <p:nvSpPr>
          <p:cNvPr id="3" name="Content Placeholder 2"/>
          <p:cNvSpPr>
            <a:spLocks noGrp="1"/>
          </p:cNvSpPr>
          <p:nvPr>
            <p:ph idx="1"/>
          </p:nvPr>
        </p:nvSpPr>
        <p:spPr/>
        <p:txBody>
          <a:bodyPr/>
          <a:lstStyle/>
          <a:p>
            <a:r>
              <a:t>Überblick: Der Dachgeschossausbau erfreut sich in Dortmund zunehmender Beliebtheit, da er eine attraktive Möglichkeit bietet, bestehenden Wohnraum zu erweitern, ohne zusätzliche Grundstücksfläche zu beanspruchen. Bevor Eigentümer mit der Planung beginnen, lohnt sich ein systematischer Überblick über die wesentlichen Aspekte, die solch ein Bauprojekt mit sich bringt. Die folgenden Abschnitte beleuchten wichtige Grundlagen, die bei einem Dachgeschossausbau in Dortmund berücksichtigt werden sollten, und helfen dabei, das Vorhaben realistisch einzuschätzen.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und technische Voraussetzungen</a:t>
            </a:r>
          </a:p>
        </p:txBody>
      </p:sp>
      <p:sp>
        <p:nvSpPr>
          <p:cNvPr id="3" name="Content Placeholder 2"/>
          <p:cNvSpPr>
            <a:spLocks noGrp="1"/>
          </p:cNvSpPr>
          <p:nvPr>
            <p:ph idx="1"/>
          </p:nvPr>
        </p:nvSpPr>
        <p:spPr/>
        <p:txBody>
          <a:bodyPr/>
          <a:lstStyle/>
          <a:p>
            <a:pPr>
              <a:defRPr sz="1800"/>
            </a:pPr>
            <a:r>
              <a:t>Bevor konkrete Planungen beginnen, sollte eine gründliche Analyse des vorhandenen Dachstuhls erfolgen. Die Statik des Daches muss ausreichend Tragfähigkeit aufweisen oder gegebenenfalls durch entsprechende Maßnahmen ertüchtigt werden. Fachleute prüfen dabei die Sparrenabstände, die Qualität des Holzes und eventuelle vorhandene Schäden durch Feuchtigkeit oder Schädlinge. Auch die Dachneigung spielt eine entscheidende Rolle, da sie den nutzbaren Raum maßgeblich beeinflusst. Eine professionelle Bestandsaufnahme bildet die Grundlage für alle weiteren Entscheidungen und verhindert spätere Überraschungen während der Bauphase.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Genehmigungsanforderungen in NRW</a:t>
            </a:r>
          </a:p>
        </p:txBody>
      </p:sp>
      <p:sp>
        <p:nvSpPr>
          <p:cNvPr id="3" name="Content Placeholder 2"/>
          <p:cNvSpPr>
            <a:spLocks noGrp="1"/>
          </p:cNvSpPr>
          <p:nvPr>
            <p:ph idx="1"/>
          </p:nvPr>
        </p:nvSpPr>
        <p:spPr/>
        <p:txBody>
          <a:bodyPr/>
          <a:lstStyle/>
          <a:p>
            <a:pPr>
              <a:defRPr sz="1800"/>
            </a:pPr>
            <a:r>
              <a:t>In Nordrhein-Westfalen sind für den Dachgeschossausbau in der Regel verschiedene Genehmigungen erforderlich. Die Bauordnung des Landes sowie die jeweilige Bauordnung der Stadt Dortmund legen fest, wann eine Baugenehmigung notwendig ist und welche Unterlagen eingereicht werden müssen. Änderungen der Dachform, Gauben oder der Einbau zusätzlicher Fenster können genehmigungspflichtig sein. Auch die Erschließung mit Sanitär- und Elektroanschlüssen muss den geltenden Vorschriften entsprechen. Eine frühzeitige Abstimmung mit dem Bauamt in Dortmund empfiehlt sich, um Verzögerungen zu vermeiden und alle requiredlichen Anforderungen von Beginn an zu be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Genehmigungsanforderungen in NRW</a:t>
            </a:r>
          </a:p>
        </p:txBody>
      </p:sp>
      <p:sp>
        <p:nvSpPr>
          <p:cNvPr id="3" name="Content Placeholder 2"/>
          <p:cNvSpPr>
            <a:spLocks noGrp="1"/>
          </p:cNvSpPr>
          <p:nvPr>
            <p:ph idx="1"/>
          </p:nvPr>
        </p:nvSpPr>
        <p:spPr/>
        <p:txBody>
          <a:bodyPr/>
          <a:lstStyle/>
          <a:p>
            <a:pPr>
              <a:defRPr sz="1800"/>
            </a:pPr>
            <a:r>
              <a:t>rücksichtigen.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Energetische Sanierung und Dämmung</a:t>
            </a:r>
          </a:p>
        </p:txBody>
      </p:sp>
      <p:sp>
        <p:nvSpPr>
          <p:cNvPr id="3" name="Content Placeholder 2"/>
          <p:cNvSpPr>
            <a:spLocks noGrp="1"/>
          </p:cNvSpPr>
          <p:nvPr>
            <p:ph idx="1"/>
          </p:nvPr>
        </p:nvSpPr>
        <p:spPr/>
        <p:txBody>
          <a:bodyPr/>
          <a:lstStyle/>
          <a:p>
            <a:pPr>
              <a:defRPr sz="1800"/>
            </a:pPr>
            <a:r>
              <a:t>Ein Dachgeschossausbau bietet die Gelegenheit, die gesamte Dachfläche energetisch auf den aktuellen Standard zu bringen. Moderne Dämmmaterialien sorgen für ein angenehmes Raumklima und tragen zur Heizkostenreduzierung bei. Die Energieeinsparverordnung schreibt bestimmte Mindeststandards für die Wärmedämmung vor, die bei einem Ausbau eingehalten werden müssen. Eine fachgerechte Dampfsperre und Belüftung der Dachkonstruktion schützen vor Feuchtigkeitsschäden und Schimmelbildung. Die Investition in eine hochwertige Dämmung amortisiert sich über die Jahre durch niedrigere Heizkosten und erhöht den Wohnkomfort dauerhaft.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der Raumnutzung und Lichtführung</a:t>
            </a:r>
          </a:p>
        </p:txBody>
      </p:sp>
      <p:sp>
        <p:nvSpPr>
          <p:cNvPr id="3" name="Content Placeholder 2"/>
          <p:cNvSpPr>
            <a:spLocks noGrp="1"/>
          </p:cNvSpPr>
          <p:nvPr>
            <p:ph idx="1"/>
          </p:nvPr>
        </p:nvSpPr>
        <p:spPr/>
        <p:txBody>
          <a:bodyPr/>
          <a:lstStyle/>
          <a:p>
            <a:pPr>
              <a:defRPr sz="1800"/>
            </a:pPr>
            <a:r>
              <a:t>Die Raumaufteilung im Dachgeschoss erfordert eine durchdachte Planung, da Dachschrägen den verfügbaren Raum einschränken. Stehhöhen, die nutzbare Fläche und die Anordnung der Räume sollten sorgfältig aufeinander abgestimmt werden. Natürliche Lichtzufuhr lässt sich durch Gauben, Dachfenster oder Lichtbänder verbessern und schafft eine wohnliche Atmosphäre. Die Positionierung von Türen und Fenstern beeinflusst sowohl die Funktionalität als auch die Energiebilanz des Neubereichs. Eine frühzeitige Skizzierung verschiedener Grundrissvarianten hilft, die optimale Lösung für die individuellen Bedürfnisse zu finden.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Kostenfaktoren und wirtschaftliche Überlegungen</a:t>
            </a:r>
          </a:p>
        </p:txBody>
      </p:sp>
      <p:sp>
        <p:nvSpPr>
          <p:cNvPr id="3" name="Content Placeholder 2"/>
          <p:cNvSpPr>
            <a:spLocks noGrp="1"/>
          </p:cNvSpPr>
          <p:nvPr>
            <p:ph idx="1"/>
          </p:nvPr>
        </p:nvSpPr>
        <p:spPr/>
        <p:txBody>
          <a:bodyPr/>
          <a:lstStyle/>
          <a:p>
            <a:pPr>
              <a:defRPr sz="1800"/>
            </a:pPr>
            <a:r>
              <a:t>Die Kosten eines Dachgeschossausbaus variieren erheblich je nach Umfang der Maßnahmen, dem Zustand der vorhandenen Bausubstanz und den gewählten Materialien. Wesentliche Kostenblöcke umfassen die Statikertüchtigung, Dacharbeiten, Dämmung, Fenster, Haustechnik sowie den Innenausbau. Eine detaillierte Kostenschätzung auf Basis fundierter Fachberatung ermöglicht eine realistische Budgetplanung. Fördermittel der KfW für energieeffizientes Bauen und Sanieren können die finanzielle Belastung reduzieren, sofern die entsprechenden Standards eingehalten werden. Eine sorgfältige Planung und Ausschreibung der Gewerke trägt dazu bei, Kostenüberschreitung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Kostenfaktoren und wirtschaftliche Überlegungen</a:t>
            </a:r>
          </a:p>
        </p:txBody>
      </p:sp>
      <p:sp>
        <p:nvSpPr>
          <p:cNvPr id="3" name="Content Placeholder 2"/>
          <p:cNvSpPr>
            <a:spLocks noGrp="1"/>
          </p:cNvSpPr>
          <p:nvPr>
            <p:ph idx="1"/>
          </p:nvPr>
        </p:nvSpPr>
        <p:spPr/>
        <p:txBody>
          <a:bodyPr/>
          <a:lstStyle/>
          <a:p>
            <a:pPr>
              <a:defRPr sz="1800"/>
            </a:pPr>
            <a:r>
              <a:t>en zu minimieren.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dachgeschossausbaudortmund.de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