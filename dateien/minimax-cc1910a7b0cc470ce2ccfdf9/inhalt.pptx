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geschossausbaudortmund/denkmalschutz-dachausbau-dortmund/" TargetMode="External"/><Relationship Id="rId3" Type="http://schemas.openxmlformats.org/officeDocument/2006/relationships/hyperlink" Target="https://holzundhaus.github.io/dachgeschossausbaudortmund/dateien/minimax-cc1910a7b0cc470ce2ccfdf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Denkmalschutz und Dachausbau in Dortmund: Was sich beim Verfahren zusätzlich ändert · Erklärende Präsentation</a:t>
            </a:r>
          </a:p>
        </p:txBody>
      </p:sp>
      <p:sp>
        <p:nvSpPr>
          <p:cNvPr id="3" name="Content Placeholder 2"/>
          <p:cNvSpPr>
            <a:spLocks noGrp="1"/>
          </p:cNvSpPr>
          <p:nvPr>
            <p:ph idx="1"/>
          </p:nvPr>
        </p:nvSpPr>
        <p:spPr/>
        <p:txBody>
          <a:bodyPr/>
          <a:lstStyle/>
          <a:p>
            <a:r>
              <a:t>Überblick: Ein Dachausbau in einem denkmalgeschützten Gebäude ist mehr als eine baurechtliche Formalie: Er berührt Substanz, Dachlandschaft und das Erscheinungsbild des Gebäudes. Für Bauherren in Dortmund entsteht deshalb eine besondere Prüfreihenfolge, bevor Träger, Fenster oder Gauben konkret geplant werden. Wer den Denkmalschutz frühzeitig einbezieht, kann teure Umplanungen vermeiden und rechtzeitig erkennen, welche Unterlagen und Abstimmungen erforderlich sind. Der folgende Leitfaden strukturiert die Vorbereitung anhand der besonderen Prüfungsmaßstäbe für Baudenkmäler und Denkmalbereiche.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den Schutzumfang klären</a:t>
            </a:r>
          </a:p>
        </p:txBody>
      </p:sp>
      <p:sp>
        <p:nvSpPr>
          <p:cNvPr id="3" name="Content Placeholder 2"/>
          <p:cNvSpPr>
            <a:spLocks noGrp="1"/>
          </p:cNvSpPr>
          <p:nvPr>
            <p:ph idx="1"/>
          </p:nvPr>
        </p:nvSpPr>
        <p:spPr/>
        <p:txBody>
          <a:bodyPr/>
          <a:lstStyle/>
          <a:p>
            <a:pPr>
              <a:defRPr sz="1800"/>
            </a:pPr>
            <a:r>
              <a:t>Bevor eine konkrete Ausbauplanung beginnt, sollte feststehen, ob das Gebäude als Baudenkmal erfasst ist oder in einem Denkmalbereich liegt. Entscheidend ist außerdem, welche Bauteile geschützt sind. Das kann die historische Dachkonstruktion, die Fassade, die Eindeckung oder das gesamte Erscheinungsbild betreffen. Für Dortmund ist dafür die Denkmalliste sowie die Einordnung des Grundstücks maßgeblich. Ergänzend sollte geprüft werden, ob eine erhaltungsrechtliche oder gestalterische Satzung gilt. Erst wenn dieser Umfang bekannt ist, lässt sich sinnvoll beurteilen, welche Eingriffe überhaupt zur Diskussion stehen. Pauschale Aussagen zu Erlaubnis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Zuerst den Schutzumfang klären</a:t>
            </a:r>
          </a:p>
        </p:txBody>
      </p:sp>
      <p:sp>
        <p:nvSpPr>
          <p:cNvPr id="3" name="Content Placeholder 2"/>
          <p:cNvSpPr>
            <a:spLocks noGrp="1"/>
          </p:cNvSpPr>
          <p:nvPr>
            <p:ph idx="1"/>
          </p:nvPr>
        </p:nvSpPr>
        <p:spPr/>
        <p:txBody>
          <a:bodyPr/>
          <a:lstStyle/>
          <a:p>
            <a:pPr>
              <a:defRPr sz="1800"/>
            </a:pPr>
            <a:r>
              <a:t>fähigkeit, Auflagen oder Kosten sind ohne diese Angaben nicht belastbar.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Bauordnung und Denkmalrecht getrennt prüfen</a:t>
            </a:r>
          </a:p>
        </p:txBody>
      </p:sp>
      <p:sp>
        <p:nvSpPr>
          <p:cNvPr id="3" name="Content Placeholder 2"/>
          <p:cNvSpPr>
            <a:spLocks noGrp="1"/>
          </p:cNvSpPr>
          <p:nvPr>
            <p:ph idx="1"/>
          </p:nvPr>
        </p:nvSpPr>
        <p:spPr/>
        <p:txBody>
          <a:bodyPr/>
          <a:lstStyle/>
          <a:p>
            <a:pPr>
              <a:defRPr sz="1800"/>
            </a:pPr>
            <a:r>
              <a:t>Für einen Dachausbau in NRW sind zwei Rechtsschichten voneinander zu unterscheiden. Die bauordnungsrechtliche Prüfung betrifft insbesondere Statik, Brandschutz, Rettungswege, Abstandsflächen sowie den Bebauungsplan oder eine Anwendung des § 34 BauGB. Das Denkmalrecht stellt dagegen die Erhaltung der geschützten Substanz, die Materialität, die Dachgestalt und die Wirkung auf das Stadt- oder Straßenbild in den Mittelpunkt. Eine Genehmigungsfreistellung nach der Bauordnung ersetzt daher keine denkmalrechtliche Erlaubnis. Umgekehrt reicht eine denkmalrechtliche Erlaubnis allein nicht aus, wenn_parallel eine Baugenehmigung erforderlich ist. Beide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Bauordnung und Denkmalrecht getrennt prüfen</a:t>
            </a:r>
          </a:p>
        </p:txBody>
      </p:sp>
      <p:sp>
        <p:nvSpPr>
          <p:cNvPr id="3" name="Content Placeholder 2"/>
          <p:cNvSpPr>
            <a:spLocks noGrp="1"/>
          </p:cNvSpPr>
          <p:nvPr>
            <p:ph idx="1"/>
          </p:nvPr>
        </p:nvSpPr>
        <p:spPr/>
        <p:txBody>
          <a:bodyPr/>
          <a:lstStyle/>
          <a:p>
            <a:pPr>
              <a:defRPr sz="1800"/>
            </a:pPr>
            <a:r>
              <a:t>Verfahren können unterschiedliche Unterlagen verlangen und unterschiedliche Prüfmaßstäbe anwenden. Die zuständige Bauaufsicht und die zuständige Denkmalbehörde sollten deshalb nicht als ein einziger Genehmigungsweg behandelt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Eingriffstiefe früh festlegen</a:t>
            </a:r>
          </a:p>
        </p:txBody>
      </p:sp>
      <p:sp>
        <p:nvSpPr>
          <p:cNvPr id="3" name="Content Placeholder 2"/>
          <p:cNvSpPr>
            <a:spLocks noGrp="1"/>
          </p:cNvSpPr>
          <p:nvPr>
            <p:ph idx="1"/>
          </p:nvPr>
        </p:nvSpPr>
        <p:spPr/>
        <p:txBody>
          <a:bodyPr/>
          <a:lstStyle/>
          <a:p>
            <a:pPr>
              <a:defRPr sz="1800"/>
            </a:pPr>
            <a:r>
              <a:t>Vor der Abstimmung mit den Behörden hilft es, die geplante Maßnahme klar zu beschreiben. Ein reiner Innenausbau, neue Dachflächenfenster, eine Gaube, eine Dacherhöhung und eine Aufstockung haben unterschiedliche Auswirkungen auf die Dachlandschaft. Besonders sichtbare Veränderungen wie Gauben, Zwerchgiebel oder neue Aufbauten können das Erscheinungsbild des Gebäudes und seiner Umgebung beeinflussen. Auch die Farbe, die Materialität und die Proportionen der sichtbaren Dachflächen können Gegenstand der Prüfung sein. Die konkrete Eingriffstiefe sollte deshalb bereits in einer ersten Skizze oder Planung erkennbar sein. Das erleichtert die Einschä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Eingriffstiefe früh festlegen</a:t>
            </a:r>
          </a:p>
        </p:txBody>
      </p:sp>
      <p:sp>
        <p:nvSpPr>
          <p:cNvPr id="3" name="Content Placeholder 2"/>
          <p:cNvSpPr>
            <a:spLocks noGrp="1"/>
          </p:cNvSpPr>
          <p:nvPr>
            <p:ph idx="1"/>
          </p:nvPr>
        </p:nvSpPr>
        <p:spPr/>
        <p:txBody>
          <a:bodyPr/>
          <a:lstStyle/>
          <a:p>
            <a:pPr>
              <a:defRPr sz="1800"/>
            </a:pPr>
            <a:r>
              <a:t>tzung, ob ein Vorhaben lediglich materiell zu bewerten ist oder auch gestalterisch besondere Anforderungen erfüllen muss.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Konflikte bei Gauben und Dämmung</a:t>
            </a:r>
          </a:p>
        </p:txBody>
      </p:sp>
      <p:sp>
        <p:nvSpPr>
          <p:cNvPr id="3" name="Content Placeholder 2"/>
          <p:cNvSpPr>
            <a:spLocks noGrp="1"/>
          </p:cNvSpPr>
          <p:nvPr>
            <p:ph idx="1"/>
          </p:nvPr>
        </p:nvSpPr>
        <p:spPr/>
        <p:txBody>
          <a:bodyPr/>
          <a:lstStyle/>
          <a:p>
            <a:pPr>
              <a:defRPr sz="1800"/>
            </a:pPr>
            <a:r>
              <a:t>In der Praxis ergeben sich häufig Schwierigkeiten, wenn die gestalterische Planung ohne eine denkmalrechtliche Vorabprüfung entwickelt wird. Gauben können in Format und Position das Bild der Dachlandschaft verändern. Dachflächenfenster in historisch relevanten Dachflächen können ebenfalls problematisch sein, wenn ihre Anordnung oder Gestaltung nicht zum Bestand passt. Bei Dämmmaßnahmen ist zu beachten, dass sichtbare Holzkonstruktionen, Sparrenlagen oder historische Verbindungen erhalten bleiben müssen. Eine energetische oder konstruktive Standardlösung kann daher nicht allein ausschlaggebend sein. Ebenso sollte nicht mit einem Detailabbabbau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Typische Konflikte bei Gauben und Dämmung</a:t>
            </a:r>
          </a:p>
        </p:txBody>
      </p:sp>
      <p:sp>
        <p:nvSpPr>
          <p:cNvPr id="3" name="Content Placeholder 2"/>
          <p:cNvSpPr>
            <a:spLocks noGrp="1"/>
          </p:cNvSpPr>
          <p:nvPr>
            <p:ph idx="1"/>
          </p:nvPr>
        </p:nvSpPr>
        <p:spPr/>
        <p:txBody>
          <a:bodyPr/>
          <a:lstStyle/>
          <a:p>
            <a:pPr>
              <a:defRPr sz="1800"/>
            </a:pPr>
            <a:r>
              <a:t> begonnen werden, bevor die erforderliche Erlaubnis und die übrigen Voraussetzungen geklärt sind.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der Abstimmung</a:t>
            </a:r>
          </a:p>
        </p:txBody>
      </p:sp>
      <p:sp>
        <p:nvSpPr>
          <p:cNvPr id="3" name="Content Placeholder 2"/>
          <p:cNvSpPr>
            <a:spLocks noGrp="1"/>
          </p:cNvSpPr>
          <p:nvPr>
            <p:ph idx="1"/>
          </p:nvPr>
        </p:nvSpPr>
        <p:spPr/>
        <p:txBody>
          <a:bodyPr/>
          <a:lstStyle/>
          <a:p>
            <a:pPr>
              <a:defRPr sz="1800"/>
            </a:pPr>
            <a:r>
              <a:t>Eine belastbare Vorbereitung folgt einer strukturierten Reihenfolge: Zunächst werden Denkmaleigenschaft und Schutzumfang geklärt. Danach folgen die Prüfung von Bebauungsplänen, Satzungen und gegebenenfalls dem Status nach § 34 BauGB. Anschließend wird die Eingriffstiefe definiert. Erst danach ist eine Abstimmung mit Bauaufsicht und Denkmalbehörde sinnvoll, bei der Erlaubnisfähigkeit, erforderliche Unterlagen und mögliche Auflagen besprochen werden. Erst wenn diese Fragen geklärt sind, sollten Tragwerksplanung, Brandschutz und energetische Detailplanung konkret vertieft werden. Für weitere Orientierung bieten sich die Hinweise zur Genehmigung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Sinnvolle Reihenfolge der Abstimmung</a:t>
            </a:r>
          </a:p>
        </p:txBody>
      </p:sp>
      <p:sp>
        <p:nvSpPr>
          <p:cNvPr id="3" name="Content Placeholder 2"/>
          <p:cNvSpPr>
            <a:spLocks noGrp="1"/>
          </p:cNvSpPr>
          <p:nvPr>
            <p:ph idx="1"/>
          </p:nvPr>
        </p:nvSpPr>
        <p:spPr/>
        <p:txBody>
          <a:bodyPr/>
          <a:lstStyle/>
          <a:p>
            <a:pPr>
              <a:defRPr sz="1800"/>
            </a:pPr>
            <a:r>
              <a:t>in NRW sowie der Leitfaden zu Denkmalschutz und Dachausbau in Dortmund 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Denkmalschutz und Dachausbau in Dortmund: Was sich beim Verfahren zusätzlich ändert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